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Lato" panose="020F0502020204030204" pitchFamily="3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F2A983-A71B-449B-A369-2D9EBD6317DF}">
  <a:tblStyle styleId="{05F2A983-A71B-449B-A369-2D9EBD6317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7278854d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d97278854d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97278854d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d97278854d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97278854d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d97278854d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9655ffe1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9655ffe1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9655ffe1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9655ffe1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9655ffe1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9655ffe1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9655ffe1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9655ffe1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9727885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d9727885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97278854d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d97278854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97278854d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d97278854d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622708" y="938212"/>
            <a:ext cx="706088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Federated RAG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47937" y="1947862"/>
            <a:ext cx="721042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 Multi-Model Retrieval-Augmented Generation System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76900" y="2947987"/>
            <a:ext cx="952500" cy="4762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133725" y="3509962"/>
            <a:ext cx="6038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Biomedical Question Answering over TREC-COVID &amp; SciFact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91000" y="4367212"/>
            <a:ext cx="39243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Presented By: M. Uzair Saleem &amp; Noor Zainab</a:t>
            </a:r>
            <a:endParaRPr sz="1500" b="1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Subject: Information Retrival </a:t>
            </a:r>
            <a:endParaRPr sz="1500" b="1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Presented To: Dr Shah Khalid</a:t>
            </a:r>
            <a:endParaRPr sz="1500" b="1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62625" y="5491162"/>
            <a:ext cx="781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57300" y="19716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Single-Model Bias: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Monolithic vector stores are limited by the specific training bias of a single embedding model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57300" y="286702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Vocabulary Gap: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Short user queries often fail to align with dense academic abstracts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57300" y="347662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Privacy Vulnerabilities: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Sending sensitive biomedical data to external cloud APIs creates data sovereignty risks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57300" y="43719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Incommensurability: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Difficulty merging results from different neural architectures due to varying score scales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867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476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43719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257300" y="19716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an end-to-end local RAG pipeline with no external API calls.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257300" y="25812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 federated search sharding indexed with different embedding models.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257300" y="31908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 SymSpell and HyDE pre-processing to enhance retrieval quality.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57300" y="38004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 a cross-encoder for re-scoring candidates more accurately than vector similarity.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57300" y="44100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 hybrid retrieval combining dense FAISS and sparse BM25S search.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257300" y="50196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Evaluate on SciFact benchmark using NDCG, Recall, Precision, MAP, and MRR.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57300" y="56292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 a web-based UI with real-time SSE pipeline tracking.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581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800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4410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5019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56292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753046"/>
            <a:ext cx="5191126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53046"/>
            <a:ext cx="5191126" cy="1634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577679"/>
            <a:ext cx="5191126" cy="163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174980" y="6419850"/>
            <a:ext cx="33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Muhammad Uzair Saleem | Noor Zainab | MSAI-2025 | NUST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476250"/>
            <a:ext cx="113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Work Distribution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62000" y="1114425"/>
            <a:ext cx="10763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1762571"/>
            <a:ext cx="51720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334125" y="5497562"/>
            <a:ext cx="51912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* Both members contributed equally to research reporting and final presentation.</a:t>
            </a:r>
            <a:endParaRPr sz="1600"/>
          </a:p>
        </p:txBody>
      </p:sp>
      <p:sp>
        <p:nvSpPr>
          <p:cNvPr id="140" name="Google Shape;140;p16"/>
          <p:cNvSpPr txBox="1"/>
          <p:nvPr/>
        </p:nvSpPr>
        <p:spPr>
          <a:xfrm>
            <a:off x="6534150" y="1981646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Noor Zainab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34150" y="2391221"/>
            <a:ext cx="47910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Conceptualized and designed the multi-stage pipeline architecture. Defined shard partitioning strategies and system logic.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34150" y="3806279"/>
            <a:ext cx="50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Muhammad Uzair Saleem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34150" y="4215854"/>
            <a:ext cx="47910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Lead developer for system implementation. Integrated FAISS, ChromaDB, and Ollama into a functional Flask-based application.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Proposed Approach: Federated Retrieval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257300" y="19716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Sharding: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Corpus split into independent shards (Category or Size-based).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257300" y="25812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 Allocation: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Round-robin assignment of BGE, E5, and Nomic models.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57300" y="31908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Shard Logic: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Each shard performs local hybrid search and RRF fusion.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257300" y="38004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Fusion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Custom Z-Score normalization bridges heterogeneous model scales.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581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8004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8500" y="3598375"/>
            <a:ext cx="49530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0" y="0"/>
            <a:ext cx="95400" cy="7810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18925" y="346175"/>
            <a:ext cx="11706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Justification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62000" y="1114425"/>
            <a:ext cx="12192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1514475"/>
            <a:ext cx="6200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1. Data Sovereignty &amp; Privacy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3550741"/>
            <a:ext cx="6200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2. Mitigating Single-Model Bias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048500" y="1514475"/>
            <a:ext cx="5143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3. Bridging Semantic &amp; Lexical Gaps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47750" y="1819275"/>
            <a:ext cx="5619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Zero Cloud Dependency: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Protects sensitive biomedical data from third-party API exposure.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47750" y="2386905"/>
            <a:ext cx="5619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Local Infrastructure: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FAISS and Ollama run entirely on-device; queries never leave the machine.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47750" y="2954535"/>
            <a:ext cx="5619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Biomedical Security: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Ensures 100% offline status for intellectual property and patient confidentiality.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47750" y="3855541"/>
            <a:ext cx="5619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Model Diversity: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Sharding across BGE, E5, and Nomic captures multiple semantic perspectives.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47750" y="4423171"/>
            <a:ext cx="5619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Synergetic Retrieval: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Overcomes "blind spots" by fusing results from heterogeneous architectures.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334250" y="1819275"/>
            <a:ext cx="4857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HyDE Expansion: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Generates "hypothetical abstracts" to align short queries with long academic documents.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334250" y="2386905"/>
            <a:ext cx="4857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Hybrid Retrieval: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Combines Dense (semantic) and Sparse BM25S (lexical) search for precision.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334250" y="2954535"/>
            <a:ext cx="4857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Neural Reranking: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Cross-Encoders for token-level joint processing of query-document pairs.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239000" y="3998416"/>
            <a:ext cx="4953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Key Deliverable: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239000" y="4255591"/>
            <a:ext cx="49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resilient, privacy-first architecture that recovers ~93% of centralized performance while maintaining absolute local sovereignty.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62000" y="178117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62000" y="234880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291643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3817441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4385071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048500" y="178117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048500" y="234880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048500" y="291643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876300" y="571500"/>
            <a:ext cx="1108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Summary of Tools and Libraries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876300" y="1333500"/>
            <a:ext cx="105537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891663" y="19145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{05F2A983-A71B-449B-A369-2D9EBD6317DF}</a:tableStyleId>
              </a:tblPr>
              <a:tblGrid>
                <a:gridCol w="223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Tool / Library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Usage in Pipeline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Key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&amp; SSE Endpoints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framework for real-time UI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PyTorch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Inference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neural calculation backend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BM25S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Sparse Retrieval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Keyword matching algorithm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FAISS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Dense Retrieval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Vector similarity computation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ChromaDB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Persistence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Persistent vector storage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Ollama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Generation &amp; HyDE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Local LLM execution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SymSpell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Query Pre-processing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 dictionary-based spelling correction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SentenceTransformers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Embedding Pipeline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HuggingFace wrapper for BGE, E5 &amp; CrossEncoder</a:t>
                      </a:r>
                      <a:endParaRPr sz="1350" b="0" i="0" u="none" strike="noStrike" cap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6" name="Google Shape;196;p19"/>
          <p:cNvSpPr/>
          <p:nvPr/>
        </p:nvSpPr>
        <p:spPr>
          <a:xfrm>
            <a:off x="876300" y="2395537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111847" y="2395537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898951" y="2395537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876300" y="2843212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111847" y="2843212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898951" y="2843212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876300" y="3290887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111847" y="3290887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898951" y="3290887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876300" y="3738562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111847" y="3738562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898951" y="3738562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876300" y="4186237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111847" y="4186237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898951" y="4186237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876300" y="4633912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3111847" y="4633912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898951" y="4633912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876300" y="5081587"/>
            <a:ext cx="22356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3111847" y="5081587"/>
            <a:ext cx="278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5898951" y="5081587"/>
            <a:ext cx="5531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Methodology: Stage 1 — Pre-Processing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257300" y="1971675"/>
            <a:ext cx="101727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SymSpell Correction: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Process: Uses a domain-aware O(1) dictionary lookup to instantly fix technical typos (e.g., correcting "covd" to "covid"). This protects the integrity of the search vocabulary before hitting the vector database.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Fallback: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a highly obscure medical term is not found in the dictionary, the system defaults to passing the exact original user input forward.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257300" y="3362325"/>
            <a:ext cx="10172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HyDE Expansion: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local LLM intercepts the short query and generates a "hypothetical perfect abstract". We embed this paragraph instead of the short query to bridge the semantic length gap between user questions and dense academic papers. </a:t>
            </a: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Fallback: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the local LLM server experiences latency spikes or goes offline, the system automatically falls back to a WordNet Lexical Expansion. Instead of generating an abstract, it instantly appends known scientific synonyms to the query to ensure the pipeline doesn't break.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209675" y="5009400"/>
            <a:ext cx="10172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History Recommender: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Every query is embedded and stored. New queries are checked against this cache using Cosine Similarity to suggest similar past queries, maintaining contextual thread continuity for researchers.</a:t>
            </a:r>
            <a:endParaRPr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362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50094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876300" y="571500"/>
            <a:ext cx="11081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Methodology: Stage 2 — Retrieval </a:t>
            </a:r>
            <a:r>
              <a:rPr lang="en-US" sz="3300" b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876300" y="1638300"/>
            <a:ext cx="529066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Dense &amp; Sparse Methods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391200" y="2495544"/>
            <a:ext cx="50388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Local</a:t>
            </a: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Reciprocal Rank Fusion (RRF):</a:t>
            </a:r>
            <a:endParaRPr sz="1500" b="1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Merges Dense and Sparse results strictly based on rank position rather than raw scores to prevent scale disparities.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Constant (k=60): Standard smoothing factor to prevent top outliers from dominating the list.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Weighting: Biased toward Dense (0.7) for semantic understanding, while keeping Sparse (0.3) as an exact-match safety net.</a:t>
            </a:r>
            <a:endParaRPr/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4168575"/>
            <a:ext cx="1209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70700" y="6343650"/>
            <a:ext cx="1076176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733350" y="2495550"/>
            <a:ext cx="5038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Dense: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Multi-Model Semantic Search FAISS inner product search over L2-normalized vectors.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Evaluates the query across three parallel SOTA architectures to eliminate semantic blind spots: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BGE v1.5 (BAAI General Embedding)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E5 v2 (Microsoft Research)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Nomic Embed v1.5 (High Context length)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708207" y="5356975"/>
            <a:ext cx="503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Sparse:</a:t>
            </a:r>
            <a:r>
              <a:rPr lang="en-US" sz="150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BM25S algorithm implemented to act as a strict keyword filter for exact medical terminology, ensuring rare acronyms and dosages are not ignored by the dense models.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Methodology: Stage 3 — Reranking &amp; Synthesis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1257300" y="1971675"/>
            <a:ext cx="10172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Neural Reranking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5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Filter: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Joint attention using the ms-marco-MiniLM Cross-Encoder to correct semantic noise from the retrieval phase.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Mechanism: Unlike bi-encoders, it processes the text jointly as a single sequence: [CLS] Query [SEP] Document [SEP], allowing full token-level interaction.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257300" y="3819525"/>
            <a:ext cx="101727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Local Synthesis: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Engine: Grounded answer generation using Ollama Llama 3.2 (3B) running 100% locally.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Constraints: The Top-5 reranked documents are truncated to 1,000 characters each and injected as strict context to prevent hallucinations.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8195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1257300" y="1733550"/>
            <a:ext cx="79905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Layer</a:t>
            </a:r>
            <a:endParaRPr sz="1500" b="1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Endpoint: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Exposes a unified POST /api/search interface.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Protocol: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Utilizes Server-Sent Events (SSE) to stream asynchronous pipeline updates to the frontend UI in real-time.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257300" y="3232425"/>
            <a:ext cx="7780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 Prcoessing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Pipeline:</a:t>
            </a:r>
            <a:r>
              <a:rPr lang="en-US" sz="150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 isolated Python module executing string operations via SymSpell, prompt engineering via HyDE, and vector caching via a local Recommender.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257300" y="4038600"/>
            <a:ext cx="79905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Federated</a:t>
            </a:r>
            <a:endParaRPr sz="1500" b="1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Parallel Sharding Architecture: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database is horizontally partitioned into multiple category-specific shards.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Multi-Model Support: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FAISS indexes and BM25S matrices are independently loaded with BGE, E5, and Nomic models, allowing parallel, asynchronous retrieval.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257300" y="5883675"/>
            <a:ext cx="7990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final RAG assembly delegates to a local Ollama server running Llama 3.2, ensuring the entire architectural stack remains 100% offline and secure.</a:t>
            </a:r>
            <a:endParaRPr/>
          </a:p>
        </p:txBody>
      </p:sp>
      <p:pic>
        <p:nvPicPr>
          <p:cNvPr id="265" name="Google Shape;26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733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232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4038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58991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4" title="architectur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250" y="95250"/>
            <a:ext cx="6667500" cy="66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Implementation Details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1257300" y="19716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Framework: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Flask application initializing components in background threads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257300" y="25812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 Updates: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Progress streamed via SSE to the SPA frontend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257300" y="31908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Environment: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100% offline compute using PyTorch and Ollama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257300" y="3800475"/>
            <a:ext cx="10172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Sharding: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Configurable round-robin allocation to shards</a:t>
            </a:r>
            <a:endParaRPr/>
          </a:p>
        </p:txBody>
      </p:sp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1971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2581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190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8004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6475"/>
            <a:ext cx="11887198" cy="67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04935"/>
            <a:ext cx="11887200" cy="1755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250" y="5186455"/>
            <a:ext cx="8191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C3CCB2-36B1-1126-D3FF-495677A4A395}"/>
              </a:ext>
            </a:extLst>
          </p:cNvPr>
          <p:cNvSpPr txBox="1"/>
          <p:nvPr/>
        </p:nvSpPr>
        <p:spPr>
          <a:xfrm>
            <a:off x="152399" y="289431"/>
            <a:ext cx="775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ystem View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2950"/>
            <a:ext cx="11887201" cy="383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7776"/>
            <a:ext cx="11279848" cy="3374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34650"/>
            <a:ext cx="11340349" cy="2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CD9A34-4EC0-5AAC-6F29-29FE14711836}"/>
              </a:ext>
            </a:extLst>
          </p:cNvPr>
          <p:cNvSpPr txBox="1"/>
          <p:nvPr/>
        </p:nvSpPr>
        <p:spPr>
          <a:xfrm>
            <a:off x="91900" y="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4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ystem View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762000" y="476250"/>
            <a:ext cx="113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Ablation Study: Centralized vs. Federated</a:t>
            </a:r>
            <a:endParaRPr dirty="0"/>
          </a:p>
        </p:txBody>
      </p:sp>
      <p:graphicFrame>
        <p:nvGraphicFramePr>
          <p:cNvPr id="313" name="Google Shape;313;p29"/>
          <p:cNvGraphicFramePr/>
          <p:nvPr/>
        </p:nvGraphicFramePr>
        <p:xfrm>
          <a:off x="771588" y="1235588"/>
          <a:ext cx="10744200" cy="4658750"/>
        </p:xfrm>
        <a:graphic>
          <a:graphicData uri="http://schemas.openxmlformats.org/drawingml/2006/table">
            <a:tbl>
              <a:tblPr firstRow="1" bandRow="1">
                <a:noFill/>
                <a:tableStyleId>{05F2A983-A71B-449B-A369-2D9EBD6317DF}</a:tableStyleId>
              </a:tblPr>
              <a:tblGrid>
                <a:gridCol w="374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Configuration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NDCG@10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Recall@10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Precision@5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MRR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BGE Only (Centralized)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0.7416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0.8586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0.8097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0.6992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E5 Only (Centralized)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0.7171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0.8367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0.7885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0.6734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0.6845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Nomic Only (Centralized)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0.7006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0.8469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0.7626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0.6481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0.6624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75"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FEDERATED CONFIGURATIONS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BGE Only (Federated)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0.6300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0.7289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0.6832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0.5914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0.6074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E5 Only (Federated)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0.6233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0.6644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0.5872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0.6083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Nomic Only (Federated)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0.6310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0.6642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0.5982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0.6152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Federated Diverse (Hybrid BM25 No </a:t>
                      </a:r>
                      <a:r>
                        <a:rPr lang="en-US" sz="1050"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eranker)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0.2845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0.5759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0.3324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0.1913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0.2022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Federated System (Final)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0.6960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0.8077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0.7454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0.6547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0.6688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4" name="Google Shape;314;p29"/>
          <p:cNvSpPr txBox="1"/>
          <p:nvPr/>
        </p:nvSpPr>
        <p:spPr>
          <a:xfrm>
            <a:off x="762000" y="6215075"/>
            <a:ext cx="1076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Finding: Final System recovers ~93% of BGE Centralized performance while ensuring sharded privacy.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371600"/>
            <a:ext cx="107632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76675"/>
            <a:ext cx="107632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762000" y="476250"/>
            <a:ext cx="113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Discussion: Penalty vs. Diversity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762000" y="1114425"/>
            <a:ext cx="10763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 txBox="1"/>
          <p:nvPr/>
        </p:nvSpPr>
        <p:spPr>
          <a:xfrm>
            <a:off x="962025" y="1600200"/>
            <a:ext cx="10881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1. The "Federation Penalty"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962025" y="2009775"/>
            <a:ext cx="10363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Centralized pipelines (~0.74 NDCG) outperform Federated Monogenous ones (~0.63).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962025" y="2325885"/>
            <a:ext cx="10363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Sharding causes a loss of global statistics (corpus-wide IDF), requiring mathematical approximations. This establishes an inherent baseline penalty for distributed retrieval.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962025" y="4105275"/>
            <a:ext cx="10881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2. Validation of Heterogeneous Diversity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962025" y="4514850"/>
            <a:ext cx="10363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Federated System (0.6960) significantly outperforms Monogenous Federated baselines (0.6300).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962025" y="4830960"/>
            <a:ext cx="10363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Disparate embedding spaces (BGE + E5 + Nomic) compensate for each other's blind spots, creating a more resilient system than any single-model federation.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371600"/>
            <a:ext cx="107632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76675"/>
            <a:ext cx="10763250" cy="24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762000" y="476250"/>
            <a:ext cx="113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Discussion: Reranking &amp; Thresholds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762000" y="1114425"/>
            <a:ext cx="10763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962025" y="1600200"/>
            <a:ext cx="10881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3. Critical Necessity of the Cross-Encoder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962025" y="2009775"/>
            <a:ext cx="10363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NDCG plummets to 0.2845 without the reranker but recovers massively to 0.6960 with it.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962025" y="2325885"/>
            <a:ext cx="10363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Pure statistical normalization (Z-Score) of mixed vector geometries is volatile. The Cross-Encoder is an absolute architectural requirement to harmonize disparate semantic spaces into a coherent ranking.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962025" y="4105275"/>
            <a:ext cx="10881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4. Approaching the Theoretical Upper Bound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962025" y="4514850"/>
            <a:ext cx="10363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 System (0.6960) is highly competitive with Centralized Nomic (0.7006) and E5 (0.7171).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962025" y="4830960"/>
            <a:ext cx="10363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Discussion: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Architecture successfully recovers performance lost to sharding. It delivers privacy and scalability benefits while matching centralized accuracy.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876300" y="571500"/>
            <a:ext cx="1108138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Conclusion and Future Work</a:t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876300" y="1333500"/>
            <a:ext cx="10553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 txBox="1"/>
          <p:nvPr/>
        </p:nvSpPr>
        <p:spPr>
          <a:xfrm>
            <a:off x="876300" y="3790950"/>
            <a:ext cx="1055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Fully Local: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100% offline, privacy-first delivery with no cloud API dependency.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876300" y="4321050"/>
            <a:ext cx="10553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Result: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 system achieves NDCG@10 of 0.6960 — recovering 93% of centralized BGE performance while maintaining full privacy and distributed architecture.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876300" y="2914650"/>
            <a:ext cx="10553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 Math Fusion</a:t>
            </a:r>
            <a:r>
              <a:rPr lang="en-US" sz="15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Proved that Z-Score normalization with cross encoder model provides an equitable, highly accurate fusion strategy for inherently mismatched embedding scales.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876300" y="2038350"/>
            <a:ext cx="10553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Engineered for Resilience:</a:t>
            </a:r>
            <a:r>
              <a:rPr lang="en-US" sz="150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Demonstrated that multi-model federation successfully mitigates the semantic blind spots of single-model architectures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876300" y="5053950"/>
            <a:ext cx="1055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Future: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Terminology mapping, scale expansion, and domain-specific fine-tuning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Office PowerPoint</Application>
  <PresentationFormat>Widescreen</PresentationFormat>
  <Paragraphs>199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Lato</vt:lpstr>
      <vt:lpstr>Arial</vt:lpstr>
      <vt:lpstr>Poppins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Uzair Saleem</cp:lastModifiedBy>
  <cp:revision>1</cp:revision>
  <dcterms:modified xsi:type="dcterms:W3CDTF">2026-04-27T13:48:52Z</dcterms:modified>
</cp:coreProperties>
</file>